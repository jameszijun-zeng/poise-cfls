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2E6CB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0"/>
            <a:ext cx="1005840" cy="1097280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194560"/>
            <a:ext cx="1005840" cy="1097280"/>
          </a:xfrm>
          <a:prstGeom prst="chevron">
            <a:avLst/>
          </a:prstGeom>
          <a:solidFill>
            <a:srgbClr val="3E7FC4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2194560"/>
            <a:ext cx="1005840" cy="1097280"/>
          </a:xfrm>
          <a:prstGeom prst="chevron">
            <a:avLst/>
          </a:prstGeom>
          <a:solidFill>
            <a:srgbClr val="5C97D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产品需求汇报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3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</a:t>
            </a:r>
            <a:endParaRPr lang="en-US" sz="1800" dirty="0"/>
          </a:p>
        </p:txBody>
      </p:sp>
      <p:pic>
        <p:nvPicPr>
          <p:cNvPr id="9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6309360"/>
            <a:ext cx="137160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0" y="14173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稳盈</a:t>
            </a:r>
            <a:endParaRPr lang="en-US" sz="9600" dirty="0"/>
          </a:p>
        </p:txBody>
      </p:sp>
      <p:sp>
        <p:nvSpPr>
          <p:cNvPr id="11" name="Text 8"/>
          <p:cNvSpPr/>
          <p:nvPr/>
        </p:nvSpPr>
        <p:spPr>
          <a:xfrm>
            <a:off x="4690872" y="26974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Poise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4690872" y="36576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资金预测与流动性管理策略智能体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90872" y="41148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Cash Forecasting &amp; Liquidity Strategy Agent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90872" y="4617720"/>
            <a:ext cx="5120640" cy="0"/>
          </a:xfrm>
          <a:prstGeom prst="line">
            <a:avLst/>
          </a:prstGeom>
          <a:noFill/>
          <a:ln w="25400">
            <a:solidFill>
              <a:srgbClr val="2E6C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4754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财资人员的智能参谋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出预测与策略建议，不自动执行交易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90872" y="5166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适用范围：单体企业 MVP（集团司库为后续演进方向）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导入：从“看现状”到“给最优策略”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5394960" cy="502920"/>
          </a:xfrm>
          <a:prstGeom prst="rect">
            <a:avLst/>
          </a:prstGeom>
          <a:solidFill>
            <a:srgbClr val="9AA6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 状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394960" cy="443484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9659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余额看板只呈现现状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看得到余额，看不到未来够不够、闲不闲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8720" y="27889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闲置资金低效沉睡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不知该投什么、投多久，怕用时取不出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88720" y="36118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缺口靠经验研判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临时发现、匆忙弥补，成本未必最优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4434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规则引擎僵化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固定规则给可行解，给不出最优解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8720" y="52578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决策难解释难复盘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“为什么这么安排”只能凭感觉回答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53328" y="3383280"/>
            <a:ext cx="713232" cy="640080"/>
          </a:xfrm>
          <a:prstGeom prst="rightArrow">
            <a:avLst/>
          </a:prstGeom>
          <a:solidFill>
            <a:srgbClr val="2E6CB4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1280160"/>
            <a:ext cx="5394960" cy="502920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 来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858000" y="1783080"/>
            <a:ext cx="5394960" cy="4434840"/>
          </a:xfrm>
          <a:prstGeom prst="rect">
            <a:avLst/>
          </a:prstGeom>
          <a:solidFill>
            <a:srgbClr val="EAF2FB"/>
          </a:solidFill>
          <a:ln w="12700">
            <a:solidFill>
              <a:srgbClr val="9CC0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660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98080" y="19659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预测准
</a:t>
            </a:r>
            <a:pPr indent="0" marL="0">
              <a:buNone/>
            </a:pPr>
            <a:r>
              <a:rPr lang="en-US" sz="115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周滚动、分层预测，中性/悲观双情景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08660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98080" y="27889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策略优
</a:t>
            </a:r>
            <a:pPr indent="0" marL="0">
              <a:buNone/>
            </a:pPr>
            <a:r>
              <a:rPr lang="en-US" sz="115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约束下求净收益最优的投融资组合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08660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98080" y="36118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可对话
</a:t>
            </a:r>
            <a:pPr indent="0" marL="0">
              <a:buNone/>
            </a:pPr>
            <a:r>
              <a:rPr lang="en-US" sz="115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自然语言提问、改假设、即时重算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8660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498080" y="4434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
</a:t>
            </a:r>
            <a:pPr indent="0" marL="0">
              <a:buNone/>
            </a:pPr>
            <a:r>
              <a:rPr lang="en-US" sz="115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每条建议可追溯到数据、约束与目标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08660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498080" y="52578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越用越准
</a:t>
            </a:r>
            <a:pPr indent="0" marL="0">
              <a:buNone/>
            </a:pPr>
            <a:r>
              <a:rPr lang="en-US" sz="115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预测偏差与采纳反馈持续回流纠偏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现状故事总结：财务人员的资金调度困境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097280"/>
            <a:ext cx="2514600" cy="841248"/>
          </a:xfrm>
          <a:prstGeom prst="chevron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步骤一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头寸摸排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8549640" cy="84124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1097280"/>
            <a:ext cx="8092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晨起手工登录多家网银与 ERP，拼凑各账户余额与未来一段时间的预计收付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176272"/>
            <a:ext cx="2514600" cy="841248"/>
          </a:xfrm>
          <a:prstGeom prst="chevron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步骤二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缺口研判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2176272"/>
            <a:ext cx="8549640" cy="84124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2176272"/>
            <a:ext cx="8092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靠经验估算下周是否够付工资、税费、还本，心里没底，难以提前预见风险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3255264"/>
            <a:ext cx="2514600" cy="841248"/>
          </a:xfrm>
          <a:prstGeom prst="chevron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步骤三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闲钱处置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0" y="3255264"/>
            <a:ext cx="8549640" cy="84124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0" y="3255264"/>
            <a:ext cx="8092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账上一笔富余资金，不知该买货基还是定存、该锁多久，怕到用时取不出来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4334256"/>
            <a:ext cx="2514600" cy="841248"/>
          </a:xfrm>
          <a:prstGeom prst="chevron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步骤四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缺口弥补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00400" y="4334256"/>
            <a:ext cx="8549640" cy="84124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9" name="Text 16"/>
          <p:cNvSpPr/>
          <p:nvPr/>
        </p:nvSpPr>
        <p:spPr>
          <a:xfrm>
            <a:off x="3474720" y="4334256"/>
            <a:ext cx="8092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临时发现缺口，匆忙申请流贷或赎回理财，弥补方式与成本未必是最优解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" y="5413248"/>
            <a:ext cx="2514600" cy="841248"/>
          </a:xfrm>
          <a:prstGeom prst="chevron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步骤五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复盘解释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00400" y="5413248"/>
            <a:ext cx="8549640" cy="84124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2" name="Text 19"/>
          <p:cNvSpPr/>
          <p:nvPr/>
        </p:nvSpPr>
        <p:spPr>
          <a:xfrm>
            <a:off x="3474720" y="5413248"/>
            <a:ext cx="8092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领导追问“为什么这么安排”，只能凭感觉解释，难量化、难复盘、难审计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智能体工作示例：一次资金策略问答的全过程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078992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EAF2FB"/>
          </a:solidFill>
          <a:ln w="12700">
            <a:solidFill>
              <a:srgbClr val="9CC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提问场景：</a:t>
            </a:r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“下月底那笔并购款付得出来吗？不够的话，怎么补最省？”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33272" y="2084832"/>
            <a:ext cx="0" cy="3657600"/>
          </a:xfrm>
          <a:prstGeom prst="line">
            <a:avLst/>
          </a:prstGeom>
          <a:noFill/>
          <a:ln w="25400">
            <a:solidFill>
              <a:srgbClr val="9CC0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2E6C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08760" y="1801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Step.1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17647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把诉求解析为“资金锁定 + 缺口诊断 + 弥补策略”，并填充参数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2788920"/>
            <a:ext cx="420624" cy="420624"/>
          </a:xfrm>
          <a:prstGeom prst="ellipse">
            <a:avLst/>
          </a:prstGeom>
          <a:solidFill>
            <a:srgbClr val="2E6C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08760" y="2715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Step.2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预测推演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03520" y="26791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预测引擎给出未来 13 周中性 / 悲观双情景现金流，定位缺口时点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3703320"/>
            <a:ext cx="420624" cy="420624"/>
          </a:xfrm>
          <a:prstGeom prst="ellipse">
            <a:avLst/>
          </a:prstGeom>
          <a:solidFill>
            <a:srgbClr val="2E6C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08760" y="3630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Step.3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优化求解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03520" y="35935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MILP 在安全底线、授信额度等约束下，求净收益最优的投 / 融组合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2960" y="4617720"/>
            <a:ext cx="420624" cy="420624"/>
          </a:xfrm>
          <a:prstGeom prst="ellipse">
            <a:avLst/>
          </a:prstGeom>
          <a:solidFill>
            <a:srgbClr val="2E6C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08760" y="4544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Step.4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多方案封装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03520" y="45079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输出稳健 / 折中 / 进取 三套方案，附预期收益、安全垫与融资依赖度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2960" y="5532120"/>
            <a:ext cx="420624" cy="420624"/>
          </a:xfrm>
          <a:prstGeom prst="ellipse">
            <a:avLst/>
          </a:prstGeom>
          <a:solidFill>
            <a:srgbClr val="2E6C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" y="5532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508760" y="5458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Step.5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解释与交互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303520" y="54223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给出可追溯推理链；支持改假设 what-if，采纳 / 否决回流持续学习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能力演进：从余额看板到 AI 策略参谋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2336" y="1371600"/>
            <a:ext cx="3520440" cy="914400"/>
          </a:xfrm>
          <a:prstGeom prst="rect">
            <a:avLst/>
          </a:prstGeom>
          <a:solidFill>
            <a:srgbClr val="9AA6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余额看板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2336" y="2286000"/>
            <a:ext cx="3520440" cy="274320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" y="25146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只呈现账户现状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不预测、不建议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靠人脑与线下沟通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41064" y="2926080"/>
            <a:ext cx="374904" cy="502920"/>
          </a:xfrm>
          <a:prstGeom prst="rightArrow">
            <a:avLst/>
          </a:prstGeom>
          <a:solidFill>
            <a:srgbClr val="9CC0E6"/>
          </a:solidFill>
          <a:ln/>
        </p:spPr>
      </p:sp>
      <p:sp>
        <p:nvSpPr>
          <p:cNvPr id="12" name="Text 9"/>
          <p:cNvSpPr/>
          <p:nvPr/>
        </p:nvSpPr>
        <p:spPr>
          <a:xfrm>
            <a:off x="4334256" y="1371600"/>
            <a:ext cx="3520440" cy="914400"/>
          </a:xfrm>
          <a:prstGeom prst="rect">
            <a:avLst/>
          </a:prstGeom>
          <a:solidFill>
            <a:srgbClr val="5C97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 / 资金模块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34256" y="2286000"/>
            <a:ext cx="3520440" cy="2743200"/>
          </a:xfrm>
          <a:prstGeom prst="rect">
            <a:avLst/>
          </a:prstGeom>
          <a:solidFill>
            <a:srgbClr val="EAF2FB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54296" y="25146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基于固定规则判断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僵化、难求最优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结果难解释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72984" y="2926080"/>
            <a:ext cx="374904" cy="502920"/>
          </a:xfrm>
          <a:prstGeom prst="rightArrow">
            <a:avLst/>
          </a:prstGeom>
          <a:solidFill>
            <a:srgbClr val="9CC0E6"/>
          </a:solidFill>
          <a:ln/>
        </p:spPr>
      </p:sp>
      <p:sp>
        <p:nvSpPr>
          <p:cNvPr id="16" name="Text 13"/>
          <p:cNvSpPr/>
          <p:nvPr/>
        </p:nvSpPr>
        <p:spPr>
          <a:xfrm>
            <a:off x="8266176" y="1371600"/>
            <a:ext cx="3520440" cy="914400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稳盈 · Poise（本产品）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66176" y="2286000"/>
            <a:ext cx="3520440" cy="2743200"/>
          </a:xfrm>
          <a:prstGeom prst="rect">
            <a:avLst/>
          </a:prstGeom>
          <a:solidFill>
            <a:srgbClr val="DCEAF7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86216" y="25146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+ 运筹优化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给约束下的最优策略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全程可对话、可解释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02336" y="5440680"/>
            <a:ext cx="11384280" cy="5486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资金策略不是一条规则，而是一道带约束的最优化题——这正是智能体的用武之地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实现思路：感知 → 预测 → 决策 的能力分层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097280"/>
            <a:ext cx="566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97280" y="1097280"/>
            <a:ext cx="5486400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12618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输入与数据收集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7556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账户余额与流水 · 应收应付 · 订单合同 · 收付日历 · 市场报价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2898648"/>
            <a:ext cx="566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97280" y="2898648"/>
            <a:ext cx="5486400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周滚动预测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55701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直接法分层（确定 / 规律 / 不确定）+ 中性 / 悲观双情景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" y="4700016"/>
            <a:ext cx="566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97280" y="4700016"/>
            <a:ext cx="5486400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48646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推理与建议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535838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MILP 多期现金调度 → 稳健 / 折中 / 进取 三套可解释方案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03720" y="11430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数据底座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03720" y="1508760"/>
            <a:ext cx="2363724" cy="402336"/>
          </a:xfrm>
          <a:prstGeom prst="roundRect">
            <a:avLst>
              <a:gd name="adj" fmla="val 13636"/>
            </a:avLst>
          </a:prstGeom>
          <a:solidFill>
            <a:srgbClr val="DCEAF7"/>
          </a:solidFill>
          <a:ln w="12700">
            <a:solidFill>
              <a:srgbClr val="9CC0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标准数据契约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432036" y="1508760"/>
            <a:ext cx="2363724" cy="402336"/>
          </a:xfrm>
          <a:prstGeom prst="roundRect">
            <a:avLst>
              <a:gd name="adj" fmla="val 13636"/>
            </a:avLst>
          </a:prstGeom>
          <a:solidFill>
            <a:srgbClr val="DCEAF7"/>
          </a:solidFill>
          <a:ln w="12700">
            <a:solidFill>
              <a:srgbClr val="9CC0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品种主数据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903720" y="2020824"/>
            <a:ext cx="2363724" cy="402336"/>
          </a:xfrm>
          <a:prstGeom prst="roundRect">
            <a:avLst>
              <a:gd name="adj" fmla="val 13636"/>
            </a:avLst>
          </a:prstGeom>
          <a:solidFill>
            <a:srgbClr val="DCEAF7"/>
          </a:solidFill>
          <a:ln w="12700">
            <a:solidFill>
              <a:srgbClr val="9CC0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授信额度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432036" y="2020824"/>
            <a:ext cx="2363724" cy="402336"/>
          </a:xfrm>
          <a:prstGeom prst="roundRect">
            <a:avLst>
              <a:gd name="adj" fmla="val 13636"/>
            </a:avLst>
          </a:prstGeom>
          <a:solidFill>
            <a:srgbClr val="DCEAF7"/>
          </a:solidFill>
          <a:ln w="12700">
            <a:solidFill>
              <a:srgbClr val="9CC0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备付规则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03720" y="26974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引擎能力 (Skills)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903720" y="3063240"/>
            <a:ext cx="1520952" cy="402336"/>
          </a:xfrm>
          <a:prstGeom prst="roundRect">
            <a:avLst>
              <a:gd name="adj" fmla="val 13636"/>
            </a:avLst>
          </a:prstGeom>
          <a:solidFill>
            <a:srgbClr val="D7F0EC"/>
          </a:solidFill>
          <a:ln w="12700">
            <a:solidFill>
              <a:srgbClr val="5FB8A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预测引擎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589264" y="3063240"/>
            <a:ext cx="1520952" cy="402336"/>
          </a:xfrm>
          <a:prstGeom prst="roundRect">
            <a:avLst>
              <a:gd name="adj" fmla="val 13636"/>
            </a:avLst>
          </a:prstGeom>
          <a:solidFill>
            <a:srgbClr val="D7F0EC"/>
          </a:solidFill>
          <a:ln w="12700">
            <a:solidFill>
              <a:srgbClr val="5FB8A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优化内核 MILP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0274808" y="3063240"/>
            <a:ext cx="1520952" cy="402336"/>
          </a:xfrm>
          <a:prstGeom prst="roundRect">
            <a:avLst>
              <a:gd name="adj" fmla="val 13636"/>
            </a:avLst>
          </a:prstGeom>
          <a:solidFill>
            <a:srgbClr val="D7F0EC"/>
          </a:solidFill>
          <a:ln w="12700">
            <a:solidFill>
              <a:srgbClr val="5FB8A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编排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903720" y="373989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推理过程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903720" y="4105656"/>
            <a:ext cx="1099566" cy="402336"/>
          </a:xfrm>
          <a:prstGeom prst="roundRect">
            <a:avLst>
              <a:gd name="adj" fmla="val 13636"/>
            </a:avLst>
          </a:prstGeom>
          <a:solidFill>
            <a:srgbClr val="E8E1F4"/>
          </a:solidFill>
          <a:ln w="12700">
            <a:solidFill>
              <a:srgbClr val="B2A0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现金守恒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67878" y="4105656"/>
            <a:ext cx="1099566" cy="402336"/>
          </a:xfrm>
          <a:prstGeom prst="roundRect">
            <a:avLst>
              <a:gd name="adj" fmla="val 13636"/>
            </a:avLst>
          </a:prstGeom>
          <a:solidFill>
            <a:srgbClr val="E8E1F4"/>
          </a:solidFill>
          <a:ln w="12700">
            <a:solidFill>
              <a:srgbClr val="B2A0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安全底线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432036" y="4105656"/>
            <a:ext cx="1099566" cy="402336"/>
          </a:xfrm>
          <a:prstGeom prst="roundRect">
            <a:avLst>
              <a:gd name="adj" fmla="val 13636"/>
            </a:avLst>
          </a:prstGeom>
          <a:solidFill>
            <a:srgbClr val="E8E1F4"/>
          </a:solidFill>
          <a:ln w="12700">
            <a:solidFill>
              <a:srgbClr val="B2A0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收益最优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696194" y="4105656"/>
            <a:ext cx="1099566" cy="402336"/>
          </a:xfrm>
          <a:prstGeom prst="roundRect">
            <a:avLst>
              <a:gd name="adj" fmla="val 13636"/>
            </a:avLst>
          </a:prstGeom>
          <a:solidFill>
            <a:srgbClr val="E8E1F4"/>
          </a:solidFill>
          <a:ln w="12700">
            <a:solidFill>
              <a:srgbClr val="B2A0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缺口预警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903720" y="4782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建议方案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5093208"/>
          <a:ext cx="4892040" cy="914400"/>
        </p:xfrm>
        <a:graphic>
          <a:graphicData uri="http://schemas.openxmlformats.org/drawingml/2006/table">
            <a:tbl>
              <a:tblPr/>
              <a:tblGrid>
                <a:gridCol w="1076249"/>
                <a:gridCol w="1369771"/>
                <a:gridCol w="1076249"/>
                <a:gridCol w="1369771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预期收益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风险标签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折中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1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A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整体架构：运筹优化内核 + LLM 编排 的混合智能体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143000"/>
            <a:ext cx="2788920" cy="457200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约束规则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7099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硬约束（刚性）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2039112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现金守恒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2404872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安全底线 · 资金锁定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2770632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 · 授信额度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320954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软规则（精修）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3538728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集中度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3904488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流动性分层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4270248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期限错配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" y="5038344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净收益最大化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5404104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风险偏好旋钮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942832" y="1143000"/>
            <a:ext cx="278892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942832" y="17099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基础数据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052560" y="2039112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账户余额 · 流水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052560" y="2404872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 / 应付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942832" y="28437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052560" y="3172968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 / 合同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052560" y="3538728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收付日历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942832" y="39776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市场与品种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052560" y="4306824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 / 产品报价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052560" y="4672584"/>
            <a:ext cx="2569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品种主数据 · 授信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26280" y="1143000"/>
            <a:ext cx="3136392" cy="5486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稳盈 · Poise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080760" y="1691640"/>
            <a:ext cx="27432" cy="201168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2" name="Text 29"/>
          <p:cNvSpPr/>
          <p:nvPr/>
        </p:nvSpPr>
        <p:spPr>
          <a:xfrm>
            <a:off x="3657600" y="1920240"/>
            <a:ext cx="1502664" cy="777240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分层预测引擎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343144" y="1920240"/>
            <a:ext cx="1502664" cy="777240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优化内核 MILP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28688" y="1920240"/>
            <a:ext cx="1502664" cy="777240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编排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657600" y="2971800"/>
            <a:ext cx="4873752" cy="365760"/>
          </a:xfrm>
          <a:prstGeom prst="rect">
            <a:avLst/>
          </a:prstGeom>
          <a:solidFill>
            <a:srgbClr val="ECECEC"/>
          </a:solidFill>
          <a:ln w="12700">
            <a:solidFill>
              <a:srgbClr val="C5CB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完整可追溯推理链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657600" y="3429000"/>
            <a:ext cx="4873752" cy="457200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策略决策（多方案 + 推荐）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3657600" y="3977640"/>
            <a:ext cx="4873752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</a:ln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方案对比：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 / 折中 / 进取，附预期收益、安全垫曲线、融资依赖度与缺口预警；支持 what-if 即时重算。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264408" y="1252728"/>
            <a:ext cx="356616" cy="292608"/>
          </a:xfrm>
          <a:prstGeom prst="rightArrow">
            <a:avLst/>
          </a:prstGeom>
          <a:solidFill>
            <a:srgbClr val="9CC0E6"/>
          </a:solidFill>
          <a:ln/>
        </p:spPr>
      </p:sp>
      <p:sp>
        <p:nvSpPr>
          <p:cNvPr id="39" name="Shape 36"/>
          <p:cNvSpPr/>
          <p:nvPr/>
        </p:nvSpPr>
        <p:spPr>
          <a:xfrm>
            <a:off x="8567928" y="1252728"/>
            <a:ext cx="356616" cy="292608"/>
          </a:xfrm>
          <a:prstGeom prst="leftArrow">
            <a:avLst/>
          </a:prstGeom>
          <a:solidFill>
            <a:srgbClr val="9CC0E6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领域知识（财资语义）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决策引擎核心：多期现金调度优化模型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078992"/>
            <a:ext cx="11064240" cy="64008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9CC0E6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问题本质：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13 周时间轴上排布每一笔钱的“投 / 融 / 留”，使全周期净收益最大、且每周都安全。“闲置资金运用”与“缺口弥补”是同一模型的一体两面。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5486400" cy="384048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决策动作空间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304288"/>
            <a:ext cx="5486400" cy="1033272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4231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闲置资金运用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：在投资白名单内选择品种与期限
</a:t>
            </a:r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缺口弥补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：动用授信、赎回投资、票据贴现，按成本择优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520440"/>
            <a:ext cx="5486400" cy="384048"/>
          </a:xfrm>
          <a:prstGeom prst="rect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904488"/>
            <a:ext cx="5486400" cy="1399032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0690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E6C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投资利息收益  −  Σ 融资成本  −  赎回成本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净财务收益最大化为主目标；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风险偏好旋钮：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进取档贴近安全线榨收益、久期可拉长；稳健档加厚备付、压短久期保灵活。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55080" y="1920240"/>
            <a:ext cx="5285232" cy="38404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硬约束（不可突破）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2304288"/>
            <a:ext cx="5285232" cy="1490472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2423160"/>
            <a:ext cx="47365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现金守恒：每周余额由结余、净现金流、投资回流、融资共同决定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流动性安全：每周末可用现金 ≥ 最低备付金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投资白名单 · 授信额度不超限 · 资金锁定不可动用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55080" y="3977640"/>
            <a:ext cx="5285232" cy="384048"/>
          </a:xfrm>
          <a:prstGeom prst="rect">
            <a:avLst/>
          </a:prstGeom>
          <a:solidFill>
            <a:srgbClr val="2E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软预警 · 不可行诊断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55080" y="4361688"/>
            <a:ext cx="5285232" cy="941832"/>
          </a:xfrm>
          <a:prstGeom prst="rect">
            <a:avLst/>
          </a:prstGeom>
          <a:solidFill>
            <a:srgbClr val="E4F4F1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4480560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E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缺口预警：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用悲观情景压测安全垫，转薄即报警
</a:t>
            </a:r>
            <a:pPr indent="0" marL="0">
              <a:buNone/>
            </a:pPr>
            <a:r>
              <a:rPr lang="en-US" sz="1250" b="1" dirty="0">
                <a:solidFill>
                  <a:srgbClr val="1E6E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不可行诊断：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无解时给出最小缺口的位置、规模与应对建议，而非只回“无解”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投融资品种白名单与模型角色定义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6586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914400"/>
                <a:gridCol w="1600200"/>
                <a:gridCol w="3794760"/>
                <a:gridCol w="324612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 / 优先级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品种举例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在模型中的作用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活钱层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货币基金 · 协定存款 · 短期逆回购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缺口时第一顺位变现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T+0/T+1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稳健层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通知存款 · 短期定存 · 现金管理类理财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确定期限、中等收益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确定期限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增益层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结构性存款 · 大额存单 · 较长定存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无缺口时段锁息增益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锁定期限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4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 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赎回活钱层投资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成本=放弃收益，最先用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4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 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流动资金贷款（授信内）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缺口主力弥补工具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4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 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票据贴现 / 银行承兑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次级弥补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4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 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短融 / 超短融（可选）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中小企业可选项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1447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说明：MVP 不纳入债券基金、股票型理财等市价波动品种，避免引入估值与市场风险，使产品聚焦“流动性管理参谋”主线。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成败指标与产品演进路线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</p:sp>
      <p:pic>
        <p:nvPicPr>
          <p:cNvPr id="5" name="Image 0" descr="tpl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37744"/>
            <a:ext cx="1024128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E9F6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北极星指标   </a:t>
            </a:r>
            <a:pPr algn="ctr" indent="0" marL="0">
              <a:buNone/>
            </a:pPr>
            <a:r>
              <a:rPr lang="en-US" sz="1600" b="1" dirty="0">
                <a:solidFill>
                  <a:srgbClr val="FFE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建议采纳率 + 采纳后的实际效果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9184" y="1874520"/>
            <a:ext cx="2697480" cy="1143000"/>
          </a:xfrm>
          <a:prstGeom prst="rect">
            <a:avLst/>
          </a:prstGeom>
          <a:solidFill>
            <a:srgbClr val="EAF2FB"/>
          </a:solidFill>
          <a:ln w="12700">
            <a:solidFill>
              <a:srgbClr val="9CC0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" y="1874520"/>
            <a:ext cx="91440" cy="1143000"/>
          </a:xfrm>
          <a:prstGeom prst="rect">
            <a:avLst/>
          </a:prstGeom>
          <a:solidFill>
            <a:srgbClr val="2E6CB4"/>
          </a:solidFill>
          <a:ln/>
        </p:spPr>
      </p:sp>
      <p:sp>
        <p:nvSpPr>
          <p:cNvPr id="11" name="Text 8"/>
          <p:cNvSpPr/>
          <p:nvPr/>
        </p:nvSpPr>
        <p:spPr>
          <a:xfrm>
            <a:off x="557784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采纳率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7784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建议被实际采纳的比例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73552" y="1874520"/>
            <a:ext cx="2697480" cy="1143000"/>
          </a:xfrm>
          <a:prstGeom prst="rect">
            <a:avLst/>
          </a:prstGeom>
          <a:solidFill>
            <a:srgbClr val="EAF2FB"/>
          </a:solidFill>
          <a:ln w="12700">
            <a:solidFill>
              <a:srgbClr val="9CC0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73552" y="1874520"/>
            <a:ext cx="91440" cy="1143000"/>
          </a:xfrm>
          <a:prstGeom prst="rect">
            <a:avLst/>
          </a:prstGeom>
          <a:solidFill>
            <a:srgbClr val="2E6CB4"/>
          </a:solidFill>
          <a:ln/>
        </p:spPr>
      </p:sp>
      <p:sp>
        <p:nvSpPr>
          <p:cNvPr id="15" name="Text 12"/>
          <p:cNvSpPr/>
          <p:nvPr/>
        </p:nvSpPr>
        <p:spPr>
          <a:xfrm>
            <a:off x="3502152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收益提升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502152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相比基线的净收益增量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1874520"/>
            <a:ext cx="2697480" cy="1143000"/>
          </a:xfrm>
          <a:prstGeom prst="rect">
            <a:avLst/>
          </a:prstGeom>
          <a:solidFill>
            <a:srgbClr val="EAF2FB"/>
          </a:solidFill>
          <a:ln w="12700">
            <a:solidFill>
              <a:srgbClr val="9CC0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1874520"/>
            <a:ext cx="91440" cy="1143000"/>
          </a:xfrm>
          <a:prstGeom prst="rect">
            <a:avLst/>
          </a:prstGeom>
          <a:solidFill>
            <a:srgbClr val="2E6CB4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预警命中率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46520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提前预警中真实发生占比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62288" y="1874520"/>
            <a:ext cx="2697480" cy="1143000"/>
          </a:xfrm>
          <a:prstGeom prst="rect">
            <a:avLst/>
          </a:prstGeom>
          <a:solidFill>
            <a:srgbClr val="EAF2FB"/>
          </a:solidFill>
          <a:ln w="12700">
            <a:solidFill>
              <a:srgbClr val="9CC0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62288" y="1874520"/>
            <a:ext cx="91440" cy="1143000"/>
          </a:xfrm>
          <a:prstGeom prst="rect">
            <a:avLst/>
          </a:prstGeom>
          <a:solidFill>
            <a:srgbClr val="2E6CB4"/>
          </a:solidFill>
          <a:ln/>
        </p:spPr>
      </p:sp>
      <p:sp>
        <p:nvSpPr>
          <p:cNvPr id="23" name="Text 20"/>
          <p:cNvSpPr/>
          <p:nvPr/>
        </p:nvSpPr>
        <p:spPr>
          <a:xfrm>
            <a:off x="9390888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预测准确度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390888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MAPE / 区间命中率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产品演进路线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29184" y="3977640"/>
            <a:ext cx="2697480" cy="502920"/>
          </a:xfrm>
          <a:prstGeom prst="chevron">
            <a:avLst/>
          </a:prstGeom>
          <a:solidFill>
            <a:srgbClr val="2E6C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MVP（本期）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29184" y="4572000"/>
            <a:ext cx="2697480" cy="137160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469087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 · 参谋 · 策略最优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3776" y="512064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周预测 · 多期 MILP · 对话式分析台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273552" y="3977640"/>
            <a:ext cx="2697480" cy="502920"/>
          </a:xfrm>
          <a:prstGeom prst="chevron">
            <a:avLst/>
          </a:prstGeom>
          <a:solidFill>
            <a:srgbClr val="3E7F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273552" y="4572000"/>
            <a:ext cx="2697480" cy="137160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38144" y="469087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精修与体验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438144" y="512064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集中度/流动性分层 · 更丰富 what-if · 预警库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217920" y="3977640"/>
            <a:ext cx="2697480" cy="502920"/>
          </a:xfrm>
          <a:prstGeom prst="chevron">
            <a:avLst/>
          </a:prstGeom>
          <a:solidFill>
            <a:srgbClr val="5C97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集团版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217920" y="4572000"/>
            <a:ext cx="2697480" cy="137160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82512" y="469087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多法人司库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382512" y="512064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 · 资金池归集 · 上存下借 · 委贷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9162288" y="3977640"/>
            <a:ext cx="2697480" cy="502920"/>
          </a:xfrm>
          <a:prstGeom prst="chevron">
            <a:avLst/>
          </a:prstGeom>
          <a:solidFill>
            <a:srgbClr val="84B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 / 进阶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162288" y="4572000"/>
            <a:ext cx="2697480" cy="1371600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326880" y="469087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326880" y="512064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多币种与跨境额度 ·（可选）市价品种与风险计量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升级承诺：得益于预留的“法人维度”与“可插拔动作类别”，从单体到集团是“加维度”，而非重写引擎。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稳盈 / Poise · 资金预测与流动性管理策略智能体 · 汇报</dc:title>
  <dc:subject>PptxGenJS Presentation</dc:subject>
  <dc:creator>财资产品团队</dc:creator>
  <cp:lastModifiedBy>财资产品团队</cp:lastModifiedBy>
  <cp:revision>1</cp:revision>
  <dcterms:created xsi:type="dcterms:W3CDTF">2026-05-29T02:46:19Z</dcterms:created>
  <dcterms:modified xsi:type="dcterms:W3CDTF">2026-05-29T02:46:19Z</dcterms:modified>
</cp:coreProperties>
</file>