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55-D443-A584-4DF8673A4DE4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55-D443-A584-4DF8673A4DE4}"/>
              </c:ext>
            </c:extLst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55-D443-A584-4DF8673A4DE4}"/>
              </c:ext>
            </c:extLst>
          </c:dPt>
          <c:dPt>
            <c:idx val="3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55-D443-A584-4DF8673A4DE4}"/>
              </c:ext>
            </c:extLst>
          </c:dPt>
          <c:cat>
            <c:strRef>
              <c:f>Sheet1!$A$2:$A$5</c:f>
              <c:strCache>
                <c:ptCount val="4"/>
                <c:pt idx="0">
                  <c:v>产品研发 40%</c:v>
                </c:pt>
                <c:pt idx="1">
                  <c:v>商务拓展 30%</c:v>
                </c:pt>
                <c:pt idx="2">
                  <c:v>人才团队 20%</c:v>
                </c:pt>
                <c:pt idx="3">
                  <c:v>运营储备 10%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55-D443-A584-4DF8673A4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0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887200" y="0"/>
            <a:ext cx="27432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kern="0" spc="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资金预测与流动性管理策略智能体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kern="0" spc="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Cash Forecasting &amp; Liquidity Strategy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937760"/>
            <a:ext cx="914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财资人员的智能参谋  ·  出预测、出策略、不动钱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35440" y="6126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Investor Deck · V0.1</a:t>
            </a:r>
            <a:endParaRPr lang="en-US" sz="11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8C40AFD-45E3-AF42-95B7-5C7AB8AC34EB}"/>
              </a:ext>
            </a:extLst>
          </p:cNvPr>
          <p:cNvSpPr/>
          <p:nvPr/>
        </p:nvSpPr>
        <p:spPr>
          <a:xfrm>
            <a:off x="64008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第七组</a:t>
            </a:r>
            <a:r>
              <a:rPr lang="zh-CN" altLang="en-US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成员</a:t>
            </a:r>
            <a:r>
              <a:rPr lang="zh-CN" alt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：钟才富、陈业超、陈晓丹、张红妹、游馥瑜、曾子均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我们解决什么问题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财资人员每天面对的三个尖锐问题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传统资金管理工具停留在「余额看板 + 固定规则」，无力回答这些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35661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6324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8580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钱够不够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63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 13 周的现金头寸，每一周是富余还是缺口？什么时候最紧？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743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297680" y="2743200"/>
            <a:ext cx="35661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617720" y="3154680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918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461772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闲钱怎么用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617720" y="4663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多出来的几千万该投活钱、稳健还是增益？配多少？锁多久最合理？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229600" y="2743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8229600" y="2743200"/>
            <a:ext cx="35661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8549640" y="3154680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29184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2708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854964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缺口怎么补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8549640" y="4663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出现资金缺口时，是用授信、票据、还是赎回投资？哪种最省成本？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一句话定位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财资人员的智能参谋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417320" y="3657600"/>
            <a:ext cx="27432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41732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出预测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709160" y="3657600"/>
            <a:ext cx="27432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70916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出策略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001000" y="3657600"/>
            <a:ext cx="27432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00100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不动钱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参谋而非操盘手 · 最优而非合规即止 · 收益优先安全兜底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可对话 · 可解释 · 可审计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310896" cy="329184"/>
          </a:xfrm>
          <a:prstGeom prst="chevron">
            <a:avLst/>
          </a:prstGeom>
          <a:solidFill>
            <a:srgbClr val="2E6CB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86384" y="219456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决策引擎核心：多期现金调度优化模型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1420856" cy="0"/>
          </a:xfrm>
          <a:prstGeom prst="line">
            <a:avLst/>
          </a:prstGeom>
          <a:noFill/>
          <a:ln w="12700">
            <a:solidFill>
              <a:srgbClr val="C5CB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78204" y="1298446"/>
            <a:ext cx="5879592" cy="1078989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9CC0E6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问题本质：</a:t>
            </a: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在 13 周时间轴上排布每一笔钱的“投 / 融 / 留”，使全周期净收益最大、且每周都安全。“闲置资金运用”与“缺口弥补”是同一模型的一体两面。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6123" y="2953511"/>
            <a:ext cx="5486400" cy="384048"/>
          </a:xfrm>
          <a:prstGeom prst="rect">
            <a:avLst/>
          </a:prstGeom>
          <a:solidFill>
            <a:srgbClr val="2E6CB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决策动作空间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123" y="3337559"/>
            <a:ext cx="5486400" cy="1216152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40443" y="3456431"/>
            <a:ext cx="4937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闲置资金运用</a:t>
            </a:r>
            <a:r>
              <a:rPr lang="en-US" sz="130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：在投资白名单内选择品种与期限
</a:t>
            </a: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缺口弥补</a:t>
            </a:r>
            <a:r>
              <a:rPr lang="en-US" sz="130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：动用授信、赎回投资、票据贴现，按成本择优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123" y="4718303"/>
            <a:ext cx="5486400" cy="384048"/>
          </a:xfrm>
          <a:prstGeom prst="rect">
            <a:avLst/>
          </a:prstGeom>
          <a:solidFill>
            <a:srgbClr val="2E6CB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目标函数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123" y="5102351"/>
            <a:ext cx="5486400" cy="1243584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40443" y="5221223"/>
            <a:ext cx="4937760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E6CB4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max  </a:t>
            </a: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Σ 投资利息收益  −  Σ 融资成本  −  赎回成本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净财务收益最大化为主目标；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风险偏好旋钮：</a:t>
            </a: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进取档贴近安全线榨收益、久期可拉长；稳健档加厚备付、压短久期保灵活。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72563" y="2953511"/>
            <a:ext cx="5285232" cy="384048"/>
          </a:xfrm>
          <a:prstGeom prst="rect">
            <a:avLst/>
          </a:prstGeom>
          <a:solidFill>
            <a:srgbClr val="1F4E79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硬约束（不可突破）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72563" y="3337559"/>
            <a:ext cx="5285232" cy="1216152"/>
          </a:xfrm>
          <a:prstGeom prst="rect">
            <a:avLst/>
          </a:prstGeom>
          <a:solidFill>
            <a:srgbClr val="F3F5F8"/>
          </a:solidFill>
          <a:ln w="12700">
            <a:solidFill>
              <a:srgbClr val="C5CB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546883" y="3456431"/>
            <a:ext cx="473659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现金守恒：每周余额由结余、净现金流、投资回流、融资共同决定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流动性安全：每周末可用现金 ≥ 最低备付金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投资白名单 · 授信额度不超限 · 资金锁定不可动用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72563" y="4718303"/>
            <a:ext cx="5285232" cy="384048"/>
          </a:xfrm>
          <a:prstGeom prst="rect">
            <a:avLst/>
          </a:prstGeom>
          <a:solidFill>
            <a:srgbClr val="2E8B8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软预警 · 不可行诊断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2563" y="5102351"/>
            <a:ext cx="5285232" cy="1243584"/>
          </a:xfrm>
          <a:prstGeom prst="rect">
            <a:avLst/>
          </a:prstGeom>
          <a:solidFill>
            <a:srgbClr val="E4F4F1"/>
          </a:solidFill>
          <a:ln w="12700">
            <a:solidFill>
              <a:srgbClr val="C5CB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546883" y="5221223"/>
            <a:ext cx="473659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6E66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缺口预警：</a:t>
            </a: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用悲观情景压测安全垫，转薄即报警
</a:t>
            </a:r>
            <a:r>
              <a:rPr lang="en-US" sz="1250" b="1" dirty="0">
                <a:solidFill>
                  <a:srgbClr val="1E6E66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不可行诊断：</a:t>
            </a: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无解时给出最小缺口的位置、规模与应对建议，而非只回“无解”</a:t>
            </a:r>
            <a:endParaRPr lang="en-US" sz="125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07" y="928745"/>
            <a:ext cx="4823075" cy="1942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核心闭环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 → 预测 → 推理 → 建议 → 反馈学习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区别于传统资金模块的关键，正在于「推理」与「反馈学习」两个环节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5204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ERP / 银企 / 合同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统一数据契约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rot="5400000">
            <a:off x="2624328" y="4133088"/>
            <a:ext cx="192024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834640" y="30175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8346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52044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464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97180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周分层 + 双情景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 / 规律 / 不确定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 rot="5400000">
            <a:off x="4864608" y="4133088"/>
            <a:ext cx="192024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5074920" y="30175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50749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52044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7492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21208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MILP 多期调度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LLM 编排翻译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 rot="5400000">
            <a:off x="7104888" y="4133088"/>
            <a:ext cx="192024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7315200" y="30175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73152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352044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45236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三档方案 + 推理链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缺口预警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 rot="5400000">
            <a:off x="9345168" y="4133088"/>
            <a:ext cx="192024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9555480" y="30175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5"/>
          <p:cNvSpPr/>
          <p:nvPr/>
        </p:nvSpPr>
        <p:spPr>
          <a:xfrm>
            <a:off x="95554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352044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5548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969264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MAPE 看板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EMA 偏差校正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94360" y="5760720"/>
            <a:ext cx="109728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59436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 反馈回流：实际值 vs 预测 → EMA 校正 → 下一轮更准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4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核心引擎 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周分层预测 + 双情景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近端确定性高，远端不确定性大 —— 用同一引擎承载不同性质的数据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确定层 W1-4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594360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56464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76656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准确度参考 ~95%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合同/AR/AP 到期、日程驱动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规律层 W5-8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47548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76656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准确度参考 ~80%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账龄回款模型 + 季节性 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不确定层 W9-13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594360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31520" y="5257800"/>
            <a:ext cx="3566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准确度参考 ~60%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订单与统计驱动，输出区间而非点值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27432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961120" y="274320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897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中性情景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8972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各层期望值汇总 → 喂给 MILP 求最优解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0" y="4526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961120" y="4526280"/>
            <a:ext cx="73152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189720" y="4709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悲观情景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8972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收入打折 + 支出从紧 → 安全压测与缺口预警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5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核心引擎 二 · 皇冠模块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MILP 多期现金调度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「闲置资金运用」与「缺口弥补」是同一问题的一体两面，由一个引擎统一求解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100ms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三档同时求解（CBC）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92024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套对比方案 · 稳健 / 折中 / 进取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265176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43600" y="2651760"/>
            <a:ext cx="73152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硬约束 C1-C6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9718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现金守恒（含终周清偿）</a:t>
            </a:r>
            <a:endParaRPr lang="en-US" sz="120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流动性安全 B[t] ≥ MinCash</a:t>
            </a:r>
            <a:endParaRPr lang="en-US" sz="120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授信额度上限</a:t>
            </a:r>
            <a:endParaRPr lang="en-US" sz="120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投资白名单 + 起投/上限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8404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384048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精修约束 C7-C9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集中度：单对手方 ≤ ρ × 总投资</a:t>
            </a:r>
            <a:endParaRPr lang="en-US" sz="120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流动性分层：活钱 ≥ λ × 总投资</a:t>
            </a:r>
            <a:endParaRPr lang="en-US" sz="120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期限错配惩罚（按 d² 加权）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502920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943600" y="50292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5074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不可行诊断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5349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松弛变量 slack[t] 路径</a:t>
            </a:r>
            <a:endParaRPr lang="en-US" sz="120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Σ slack[t] 最小化定位缺口位置/规模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6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核心引擎 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DeepSeek-V4 编排 · 数字纪律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做翻译/编排/解释，绝不出数字 — 所有金额必从工具真实返回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不做数值最优化  ·  优化器不做语言理解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886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run_forecast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773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周双情景预测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46020" y="365760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3886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3746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build_and_solve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37460" y="4773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 MILP 求解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43400" y="365760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886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484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explain_plan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434840" y="4773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方案叙事 + 影子价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40780" y="365760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580" y="38862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222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diagnose_infeasible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332220" y="4773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缺口位置 + 规模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38160" y="365760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8862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apply_overrides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229600" y="4773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假设变更 dry-run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10035540" y="365760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1340" y="388620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12698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query_position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0126980" y="4773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头寸快照查询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48640" y="2194560"/>
            <a:ext cx="55778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5"/>
          <p:cNvSpPr/>
          <p:nvPr/>
        </p:nvSpPr>
        <p:spPr>
          <a:xfrm>
            <a:off x="548640" y="21945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Thinking 模式：reasoning_content 多轮持久化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263640" y="2194560"/>
            <a:ext cx="53492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7"/>
          <p:cNvSpPr/>
          <p:nvPr/>
        </p:nvSpPr>
        <p:spPr>
          <a:xfrm>
            <a:off x="6263640" y="21945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SSE 流式：reasoning + content + tool 进度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7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反馈学习闭环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每周一 06:00 自动滚动 · 越用越准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Celery Beat 调度 + 分层 MAPE + (category, direction) EMA 校正系数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69848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1828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锁定上周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-1828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actuals → 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1548" y="331012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4154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17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MAPE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17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 + 分类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16168" y="331012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1616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EMA 偏差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α=0.3 平滑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90788" y="331012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9078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409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新一轮预测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409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应用校正系数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265408" y="331012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26540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再求解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MILP optimize 队列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 demo 数据下的实测 MAPE（合成扰动设计 vs 实测）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" y="53035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05840" y="5303520"/>
            <a:ext cx="54864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88720" y="5349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确定层 W1-4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5669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0.85%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265176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设计扰动 ±2%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5261956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480560" y="530352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663440" y="5349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规律层 W5-8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5669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1.73%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12648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设计扰动 ±8%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53035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955280" y="5303520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138160" y="5349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不确定层 W9-13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38160" y="5669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6.06%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60120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设计扰动 ±18%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8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实操演示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剧情 · 制造贸易企业 13 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 突发 ¥80M 并购款 → 求解三档方案 → 折中档采纳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剧情埋点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6400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200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大额并购付款 ¥80M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6400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重点客户回款延后 ¥35M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6400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W9-W13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754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 uncertain 区间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53212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6400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1520" y="5532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532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悲观情景擦边预警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三档方案对比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200400"/>
          <a:ext cx="521208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档位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净收益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活钱占比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集中度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稳健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¥570K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折中 ✓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¥722K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进取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¥779K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0.7%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33%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21792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折中档被采纳 · 其他档自动 rejected · 全程审计留痕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9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MVP 性能基线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秒级响应  ·  端到端 &lt; 2 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周 × 13 品种规模下的实测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2560320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5800" y="5157216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68580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周双情景预测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3017520"/>
            <a:ext cx="2560320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429000" y="5157216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29000" y="3383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7600" dirty="0"/>
          </a:p>
        </p:txBody>
      </p:sp>
      <p:sp>
        <p:nvSpPr>
          <p:cNvPr id="14" name="Text 12"/>
          <p:cNvSpPr/>
          <p:nvPr/>
        </p:nvSpPr>
        <p:spPr>
          <a:xfrm>
            <a:off x="342900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 MILP 求解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2560320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172200" y="5157216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172200" y="3383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</a:t>
            </a:r>
            <a:endParaRPr lang="en-US" sz="7600" dirty="0"/>
          </a:p>
        </p:txBody>
      </p:sp>
      <p:sp>
        <p:nvSpPr>
          <p:cNvPr id="19" name="Text 17"/>
          <p:cNvSpPr/>
          <p:nvPr/>
        </p:nvSpPr>
        <p:spPr>
          <a:xfrm>
            <a:off x="617220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what-if 重算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5400" y="3017520"/>
            <a:ext cx="2560320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915400" y="5157216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915400" y="3383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2</a:t>
            </a:r>
            <a:endParaRPr lang="en-US" sz="7600" dirty="0"/>
          </a:p>
        </p:txBody>
      </p:sp>
      <p:sp>
        <p:nvSpPr>
          <p:cNvPr id="24" name="Text 22"/>
          <p:cNvSpPr/>
          <p:nvPr/>
        </p:nvSpPr>
        <p:spPr>
          <a:xfrm>
            <a:off x="891540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9828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冒烟全流程（10 步）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对话：DeepSeek-V4 thinking 模式 7-30s（SSE 流式实时可见）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安全 &amp; 可信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三重保险确保参谋可信赖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可解释 · 可审计 · 可控权限 — 财务数据高敏感，每一个动作都留痕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65176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3657600" cy="1097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91640" y="3154680"/>
            <a:ext cx="822960" cy="822960"/>
          </a:xfrm>
          <a:prstGeom prst="ellipse">
            <a:avLst/>
          </a:prstGeom>
          <a:solidFill>
            <a:srgbClr val="DBEAFE">
              <a:alpha val="50000"/>
            </a:srgbClr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918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数字纪律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754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绝不凭空给数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+ 代码双重设防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所有金额来自工具真实返回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265176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2651760"/>
            <a:ext cx="3657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669280" y="3154680"/>
            <a:ext cx="822960" cy="822960"/>
          </a:xfrm>
          <a:prstGeom prst="ellipse">
            <a:avLst/>
          </a:prstGeom>
          <a:solidFill>
            <a:srgbClr val="DBEAFE">
              <a:alpha val="50000"/>
            </a:srgbClr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9184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全程审计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617720" y="4754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 写操作自动留痕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调用 + tool 序列入库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方案采纳/否决可回放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0" y="265176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8229600" y="2651760"/>
            <a:ext cx="36576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9646920" y="3154680"/>
            <a:ext cx="822960" cy="822960"/>
          </a:xfrm>
          <a:prstGeom prst="ellipse">
            <a:avLst/>
          </a:prstGeom>
          <a:solidFill>
            <a:srgbClr val="DBEAFE">
              <a:alpha val="50000"/>
            </a:srgbClr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329184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RBAC 权限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595360" y="4754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admin · treasurer · analyst · viewer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采纳权限仅给资金主管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维权限矩阵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11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· 演进路线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从单体到集团，从国内到跨境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数据模型与决策框架已留好扩展钩子 —— 加维度、插动作，而非推倒重来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0698480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2674620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840230" y="386791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84023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674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2674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已完成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单体企业 · 参谋 · 策略最优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14850" y="38679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1485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6140" y="2788920"/>
            <a:ext cx="2674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06140" y="3246120"/>
            <a:ext cx="2674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7580" y="45720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C7-C9 精修 / 流式对话 / 更多 what-if 场景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89470" y="38679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8947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2788920"/>
            <a:ext cx="2674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0760" y="3246120"/>
            <a:ext cx="2674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已留钩子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45720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多法人 · 资金池归集 · 上存下借 · 委托贷款 · FTP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64090" y="3867912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86409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55380" y="2788920"/>
            <a:ext cx="2674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跨境 / 进阶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755380" y="3246120"/>
            <a:ext cx="2674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46820" y="45720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多币种 · 跨境额度 · 市价品种 · 风险计量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升级承诺：从单体到集团，是「加维度、插动作」而非「推倒重来」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12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· 工程交付数据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 已完整交付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个阶段 + 2 个增强 / 44 单测 + 6 LLM 回归 / 33 个 REST 端点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9+2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057400" y="2834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全部完成 · 含 C7-C9 精修 + SSE 流式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6974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251960" y="26974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28346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897880" y="2834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Pytest 单测全过 · 0.96s 完成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26974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92440" y="26974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738360" y="2834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US-1~US-6 LLM 对话回归通过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4348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11480" y="44348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2057400" y="4572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REST API 端点 · 全文档化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1960" y="44348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251960" y="44348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480560" y="45720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5897880" y="4572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数据库表 · 完整 audit/conversation 留痕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44348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092440" y="44348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321040" y="45720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2s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9738360" y="4572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端到端冒烟脚本（10 步）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13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· 融资需求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本轮融资 ¥1.5 千万 · 18 月跑道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种子轮 · 用于把 MVP 推进到试点验证 + 集团版能力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¥1.5KW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本轮融资金额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743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¥1 亿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7472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投后估值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出让比例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42976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291840" y="42976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474720" y="4434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月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474720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资金跑道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资金用途</a:t>
            </a:r>
            <a:endParaRPr lang="en-US" sz="16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400800" y="3063240"/>
          <a:ext cx="2743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9281160" y="3108960"/>
            <a:ext cx="109728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9436608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产品研发  </a:t>
            </a:r>
            <a:r>
              <a:rPr lang="en-US" sz="13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40%
</a:t>
            </a: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集团版扩展 · ERP/银企适配器 · 流式对话深化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281160" y="3703320"/>
            <a:ext cx="10972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9436608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商务拓展  </a:t>
            </a:r>
            <a:r>
              <a:rPr lang="en-US" sz="13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30%
</a:t>
            </a: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10-20 家试点客户 · 行业 KOC · 解决方案落地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281160" y="4297680"/>
            <a:ext cx="109728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9436608" y="4251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人才团队  </a:t>
            </a:r>
            <a:r>
              <a:rPr lang="en-US" sz="13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20%
</a:t>
            </a: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资深工程师 ×3 · 客户成功 ×2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281160" y="4892040"/>
            <a:ext cx="10972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9436608" y="4846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运营储备  </a:t>
            </a: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10%
</a:t>
            </a: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法务合规 · 安全审计 · 基础设施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14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· 里程碑路线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月跑道 · 四个清晰节点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每个节点都有可验证的交付指标 —— 不靠故事，靠数据说话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1064240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2128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57350" y="3410712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5735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 已就绪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24917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24917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22174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 单测 + 6 LLM 回归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 &lt; 2s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 REST 端点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23410" y="341071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42341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4700" y="224028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4700" y="265176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首批试点验收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51860" y="4206240"/>
            <a:ext cx="24917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451860" y="4206240"/>
            <a:ext cx="24917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589020" y="4389120"/>
            <a:ext cx="22174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3-5 家试点客户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ERP/银企 1 套适配器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采纳率 ≥ 40%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89470" y="3410712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8947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M12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224028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个月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265176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集团版 GA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24917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217920" y="4206240"/>
            <a:ext cx="24917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355080" y="4389120"/>
            <a:ext cx="22174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多法人 + 资金池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10+ 付费客户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¥500W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55530" y="3410712"/>
            <a:ext cx="548640" cy="5486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95553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M18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46820" y="224028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个月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46820" y="265176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轮就绪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83980" y="4206240"/>
            <a:ext cx="24917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983980" y="4206240"/>
            <a:ext cx="249174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121140" y="4389120"/>
            <a:ext cx="22174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30+ 客户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¥2,000W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跨境能力 PoC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用本轮 ¥1,500 万跑通到 M18，即可凭真实 ARR / 客户数 / 留存率 启动 A 轮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15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· 投资亮点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为什么是稳盈，为什么是现在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 × 市场 × 团队 三角共振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6517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3657600" cy="1097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92608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差异化的技术皇冠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94360" y="4407823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MILP 多期优化 + LLM 编排 + 数字纪律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竞品停留在「余额看板 + 规则告警」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可解释性 + 安全可信是 to-B 财资必备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51960" y="26517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251960" y="2651760"/>
            <a:ext cx="3657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90372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5600" dirty="0"/>
          </a:p>
        </p:txBody>
      </p:sp>
      <p:sp>
        <p:nvSpPr>
          <p:cNvPr id="16" name="Shape 13"/>
          <p:cNvSpPr/>
          <p:nvPr/>
        </p:nvSpPr>
        <p:spPr>
          <a:xfrm>
            <a:off x="4572000" y="3063240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20040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正在打开的市场窗口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572000" y="4407823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国内规模以上企业 40+ 万，10% 有专职财资团队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司库数字化 2025-2027 政策驱动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让「可对话的资金参谋」首次成为可能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229600" y="26517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8229600" y="2651760"/>
            <a:ext cx="36576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1088136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5600" dirty="0"/>
          </a:p>
        </p:txBody>
      </p:sp>
      <p:sp>
        <p:nvSpPr>
          <p:cNvPr id="23" name="Shape 19"/>
          <p:cNvSpPr/>
          <p:nvPr/>
        </p:nvSpPr>
        <p:spPr>
          <a:xfrm>
            <a:off x="8549640" y="3063240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20040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4964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工程化扎实的团队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549640" y="4407823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 9+2 phase 9 周交付（含 14 页 deck + demo）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 单测 / 6 LLM 回归 / 端到端 &lt; 2s 全过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300" dirty="0" err="1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深厚的数字化</a:t>
            </a:r>
            <a:r>
              <a:rPr lang="zh-CN" alt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、智能化</a:t>
            </a:r>
            <a:r>
              <a:rPr lang="en-US" sz="1300" dirty="0" err="1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实施背景，深入懂</a:t>
            </a: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SAP / 用友 / </a:t>
            </a:r>
            <a:r>
              <a:rPr lang="en-US" sz="1300" dirty="0" err="1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金蝶等ERP生态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欢迎洽谈：种子轮 ¥1,500 万 · 跑通至 M18 即可启动 A 轮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16 / 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0" y="0"/>
            <a:ext cx="27432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166360" y="3474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稳盈 / Poise · 资金预测与流动性管理策略智能体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BEA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让财资人员把时间用在判断与拍板，而不是算账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Inquiries  ·  Investment  ·  Partnership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1275</Words>
  <Application>Microsoft Macintosh PowerPoint</Application>
  <PresentationFormat>宽屏</PresentationFormat>
  <Paragraphs>340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微软雅黑</vt:lpstr>
      <vt:lpstr>PingFang SC</vt:lpstr>
      <vt:lpstr>Arial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Poise · Investor Deck</dc:title>
  <dc:subject>PptxGenJS Presentation</dc:subject>
  <dc:creator>稳盈 / Poise</dc:creator>
  <cp:lastModifiedBy>James Zeng</cp:lastModifiedBy>
  <cp:revision>5</cp:revision>
  <dcterms:created xsi:type="dcterms:W3CDTF">2026-05-31T01:20:17Z</dcterms:created>
  <dcterms:modified xsi:type="dcterms:W3CDTF">2026-05-31T07:13:46Z</dcterms:modified>
</cp:coreProperties>
</file>